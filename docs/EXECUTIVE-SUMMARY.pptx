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Team size (FTE)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Pilot  ·  4–5 FTE
(months 1–4)</c:v>
                  </c:pt>
                  <c:pt idx="1">
                    <c:v>Scale-out  ·  8–11 FTE
(months 4–12)</c:v>
                  </c:pt>
                  <c:pt idx="2">
                    <c:v>Steady state  ·  6–8 FTE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4.5</c:v>
                </c:pt>
                <c:pt idx="1">
                  <c:v>9.5</c:v>
                </c:pt>
                <c:pt idx="2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2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</c:scaling>
        <c:delete val="0"/>
        <c:axPos val="l"/>
        <c:majorGridlines>
          <c:spPr>
            <a:ln w="12700" cap="flat">
              <a:solidFill>
                <a:srgbClr val="E6EAF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7385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B7385"/>
                    </a:solidFill>
                    <a:latin typeface="Arial"/>
                  </a:rPr>
                  <a:t>Team size (FTE)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3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this is a proposal for a go/no-go at month four, not a request to fund the whole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three decisions. Phase 0 needs no AI approval to start.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2A3877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2926080" cy="2926080"/>
          </a:xfrm>
          <a:prstGeom prst="ellipse">
            <a:avLst/>
          </a:prstGeom>
          <a:solidFill>
            <a:srgbClr val="27336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05740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Data Warehouse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it with AI agents — without putting AI in the data path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" y="3767328"/>
            <a:ext cx="1463040" cy="32004"/>
          </a:xfrm>
          <a:prstGeom prst="rect">
            <a:avLst/>
          </a:prstGeom>
          <a:solidFill>
            <a:srgbClr val="C8871B"/>
          </a:solidFill>
          <a:ln w="12700">
            <a:solidFill>
              <a:srgbClr val="C887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069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for senior management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August 2026  ·  Proposal for review  ·  Full design: 14-chapter document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conditions that rule out the conventional approach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EEF2FB"/>
          </a:solidFill>
          <a:ln w="12700">
            <a:solidFill>
              <a:srgbClr val="DDE4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745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68680" y="276148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tables to onboard, from systems and vendors that change without notice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69164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EEF2FB"/>
          </a:solidFill>
          <a:ln w="12700">
            <a:solidFill>
              <a:srgbClr val="DDE4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8745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0" y="276148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organisations with information barriers that are a control requirement, not a preference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169164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EEF2FB"/>
          </a:solidFill>
          <a:ln w="12700">
            <a:solidFill>
              <a:srgbClr val="DDE4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75320" y="18745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275320" y="276148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cannot hire modellers and engineers to the size of the problem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10908792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4343400"/>
            <a:ext cx="10268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warehouses are only stable because engineers absorb change by hand.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4736592"/>
            <a:ext cx="10268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time a vendor alters a feed, someone rewrites a load and rebuilds history. At our scale, that model does not work at any headcount we would fund.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proposal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agents to build the warehouse — not to run 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94960" cy="3200400"/>
          </a:xfrm>
          <a:prstGeom prst="roundRect">
            <a:avLst>
              <a:gd name="adj" fmla="val 2286"/>
            </a:avLst>
          </a:prstGeom>
          <a:solidFill>
            <a:srgbClr val="EEF2FB"/>
          </a:solidFill>
          <a:ln w="12700">
            <a:solidFill>
              <a:srgbClr val="DDE4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9202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8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TIME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221284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 propose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269748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written specifications of each source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how it maps into our business model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pipeline code and tests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for human approval, like any engineer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285232" cy="3200400"/>
          </a:xfrm>
          <a:prstGeom prst="roundRect">
            <a:avLst>
              <a:gd name="adj" fmla="val 228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9202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0" y="221284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AI at all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583680" y="269748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runs ordinary, reviewed, deterministic code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 sits in the data path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is explainable without reference to a model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failure is a failed pull request — never bad data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512064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Underneath, the warehouse uses an established method (Data Vault 2.0) that Databricks supports — chosen because its main drawback, being repetitive to build by hand, is exactly what makes it suited to machine generation.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source change cannot cascade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is separated from attributes, so change is contained by construction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234440" y="2377440"/>
            <a:ext cx="1737360" cy="1737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234440" y="23774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HUB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977640" y="1874520"/>
            <a:ext cx="2286000" cy="658368"/>
          </a:xfrm>
          <a:prstGeom prst="roundRect">
            <a:avLst>
              <a:gd name="adj" fmla="val 8333"/>
            </a:avLst>
          </a:prstGeom>
          <a:solidFill>
            <a:srgbClr val="C8871B"/>
          </a:solidFill>
          <a:ln w="12700">
            <a:solidFill>
              <a:srgbClr val="C887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77640" y="187452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A satellite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971800" y="3246120"/>
            <a:ext cx="1005840" cy="-1042416"/>
          </a:xfrm>
          <a:prstGeom prst="line">
            <a:avLst/>
          </a:prstGeom>
          <a:noFill/>
          <a:ln w="19050">
            <a:solidFill>
              <a:srgbClr val="B9C4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77640" y="2788920"/>
            <a:ext cx="2286000" cy="658368"/>
          </a:xfrm>
          <a:prstGeom prst="roundRect">
            <a:avLst>
              <a:gd name="adj" fmla="val 8333"/>
            </a:avLst>
          </a:prstGeom>
          <a:solidFill>
            <a:srgbClr val="EEF2FB"/>
          </a:solidFill>
          <a:ln w="12700">
            <a:solidFill>
              <a:srgbClr val="DDE4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77640" y="278892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B satellite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971800" y="3246120"/>
            <a:ext cx="1005840" cy="-128016"/>
          </a:xfrm>
          <a:prstGeom prst="line">
            <a:avLst/>
          </a:prstGeom>
          <a:noFill/>
          <a:ln w="19050">
            <a:solidFill>
              <a:srgbClr val="B9C4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77640" y="3703320"/>
            <a:ext cx="2286000" cy="658368"/>
          </a:xfrm>
          <a:prstGeom prst="roundRect">
            <a:avLst>
              <a:gd name="adj" fmla="val 8333"/>
            </a:avLst>
          </a:prstGeom>
          <a:solidFill>
            <a:srgbClr val="EEF2FB"/>
          </a:solidFill>
          <a:ln w="12700">
            <a:solidFill>
              <a:srgbClr val="DDE4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77640" y="370332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satellite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971800" y="3246120"/>
            <a:ext cx="1005840" cy="786384"/>
          </a:xfrm>
          <a:prstGeom prst="line">
            <a:avLst/>
          </a:prstGeom>
          <a:noFill/>
          <a:ln w="19050">
            <a:solidFill>
              <a:srgbClr val="B9C4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0" y="1737360"/>
            <a:ext cx="4690872" cy="3063240"/>
          </a:xfrm>
          <a:prstGeom prst="roundRect">
            <a:avLst>
              <a:gd name="adj" fmla="val 2388"/>
            </a:avLst>
          </a:prstGeom>
          <a:solidFill>
            <a:srgbClr val="EEF2FB"/>
          </a:solidFill>
          <a:ln w="12700">
            <a:solidFill>
              <a:srgbClr val="DDE4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78040" y="1965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Vendor A changes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178040" y="2423160"/>
            <a:ext cx="4069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satellite is rebuilt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hub is untouched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vendors' data is untouched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keep working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is preserved, including what was reported before a restatement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0080" y="507492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change we can identify that forces a warehouse-wide rebuild. That is a structural property, not an operational promise.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working prototype already shows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but real code with executable tests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3794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37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34440" y="1783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absorbed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069080" y="1783080"/>
            <a:ext cx="7452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vendor rename, a new instrument and a corrected valuation — one satellite changed, nothing reloaded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79806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2743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History correct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069080" y="2743200"/>
            <a:ext cx="7452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Restated figures version only the affected period; the original reported value stays queryable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5818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758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3703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Barriers hold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069080" y="3703320"/>
            <a:ext cx="7452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organisation's analyst cannot see the other's data — the catalogs are invisible, not merely blocked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71830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718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34440" y="4663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reference data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069080" y="4663440"/>
            <a:ext cx="7452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organisations read one shared reference set, without sharing their own data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5623560"/>
            <a:ext cx="10908792" cy="868680"/>
          </a:xfrm>
          <a:prstGeom prst="roundRect">
            <a:avLst>
              <a:gd name="adj" fmla="val 8421"/>
            </a:avLst>
          </a:prstGeom>
          <a:solidFill>
            <a:srgbClr val="EEF2FB"/>
          </a:solidFill>
          <a:ln w="12700">
            <a:solidFill>
              <a:srgbClr val="DDE4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5760720"/>
            <a:ext cx="10268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it found two design defects that document review had missed — including one that would have silently discarded price history.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not yet proven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plainly, because the credibility of the rest depends on 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29000" cy="3108960"/>
          </a:xfrm>
          <a:prstGeom prst="roundRect">
            <a:avLst>
              <a:gd name="adj" fmla="val 2353"/>
            </a:avLst>
          </a:prstGeom>
          <a:solidFill>
            <a:srgbClr val="EEF2FB"/>
          </a:solidFill>
          <a:ln w="12700">
            <a:solidFill>
              <a:srgbClr val="DDE4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965960"/>
            <a:ext cx="420624" cy="420624"/>
          </a:xfrm>
          <a:prstGeom prst="ellipse">
            <a:avLst/>
          </a:prstGeom>
          <a:solidFill>
            <a:srgbClr val="C8871B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965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444752" y="200253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quality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96112" y="25420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8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at all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96112" y="2907792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one agent has been built. Every claim about mapping accuracy — and therefore about review effort saved — is a hypothesis. Phase 1 exists to test it.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1737360"/>
            <a:ext cx="3429000" cy="3108960"/>
          </a:xfrm>
          <a:prstGeom prst="roundRect">
            <a:avLst>
              <a:gd name="adj" fmla="val 2353"/>
            </a:avLst>
          </a:prstGeom>
          <a:solidFill>
            <a:srgbClr val="EEF2FB"/>
          </a:solidFill>
          <a:ln w="12700">
            <a:solidFill>
              <a:srgbClr val="DDE4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99432" y="1965960"/>
            <a:ext cx="420624" cy="420624"/>
          </a:xfrm>
          <a:prstGeom prst="ellipse">
            <a:avLst/>
          </a:prstGeom>
          <a:solidFill>
            <a:srgbClr val="C8871B"/>
          </a:solidFill>
          <a:ln/>
        </p:spPr>
      </p:sp>
      <p:sp>
        <p:nvSpPr>
          <p:cNvPr id="12" name="Text 10"/>
          <p:cNvSpPr/>
          <p:nvPr/>
        </p:nvSpPr>
        <p:spPr>
          <a:xfrm>
            <a:off x="4599432" y="1965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148072" y="200253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Economics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99432" y="25420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8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Unmeasured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99432" y="2907792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onboarded source has not been modelled.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46720" y="1737360"/>
            <a:ext cx="3429000" cy="3108960"/>
          </a:xfrm>
          <a:prstGeom prst="roundRect">
            <a:avLst>
              <a:gd name="adj" fmla="val 2353"/>
            </a:avLst>
          </a:prstGeom>
          <a:solidFill>
            <a:srgbClr val="EEF2FB"/>
          </a:solidFill>
          <a:ln w="12700">
            <a:solidFill>
              <a:srgbClr val="DDE4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02752" y="1965960"/>
            <a:ext cx="420624" cy="420624"/>
          </a:xfrm>
          <a:prstGeom prst="ellipse">
            <a:avLst/>
          </a:prstGeom>
          <a:solidFill>
            <a:srgbClr val="C8871B"/>
          </a:solidFill>
          <a:ln/>
        </p:spPr>
      </p:sp>
      <p:sp>
        <p:nvSpPr>
          <p:cNvPr id="18" name="Text 16"/>
          <p:cNvSpPr/>
          <p:nvPr/>
        </p:nvSpPr>
        <p:spPr>
          <a:xfrm>
            <a:off x="8302752" y="1965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851392" y="200253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model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302752" y="25420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8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302752" y="2907792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names were drafted from general finance knowledge, not from our business. Our modellers must replace them before the pilot.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5120640"/>
            <a:ext cx="10908792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5285232"/>
            <a:ext cx="10268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risk: designing the core business model wrong early, because everything is built on it.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60120" y="5632704"/>
            <a:ext cx="10268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pilot on the best-understood domain and gate every change through a design authority.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costs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Scale-out is deliberately the peak — that is when we buy the evidence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83080"/>
          <a:ext cx="60350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086600" y="1783080"/>
            <a:ext cx="4462272" cy="3566160"/>
          </a:xfrm>
          <a:prstGeom prst="roundRect">
            <a:avLst>
              <a:gd name="adj" fmla="val 2051"/>
            </a:avLst>
          </a:prstGeom>
          <a:solidFill>
            <a:srgbClr val="EEF2FB"/>
          </a:solidFill>
          <a:ln w="12700">
            <a:solidFill>
              <a:srgbClr val="DDE4F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406640" y="20116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point is not fewer people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406640" y="2697480"/>
            <a:ext cx="3840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 is removing hand-written code from the critical path.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specialists we do have spend their time on judgment — what the data means and how the business model should be structured — rather than typing pipelines.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figures are a consequence of that, not the goal.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55321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and AI running costs are not yet modelled — the dominant AI cost is expected to be cents per source against hours of modeller time, but this needs validating, not asserting.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and accountability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is automated only on measured evidence — and four things never are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EEF2FB"/>
          </a:solidFill>
          <a:ln w="12700">
            <a:solidFill>
              <a:srgbClr val="DDE4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67128"/>
            <a:ext cx="384048" cy="384048"/>
          </a:xfrm>
          <a:prstGeom prst="ellipse">
            <a:avLst/>
          </a:prstGeom>
          <a:solidFill>
            <a:srgbClr val="C8871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200253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Confirming what data means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40487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ground truth; an agent would fabricate it plausibly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EEF2FB"/>
          </a:solidFill>
          <a:ln w="12700">
            <a:solidFill>
              <a:srgbClr val="DDE4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2167128"/>
            <a:ext cx="384048" cy="384048"/>
          </a:xfrm>
          <a:prstGeom prst="ellipse">
            <a:avLst/>
          </a:prstGeom>
          <a:solidFill>
            <a:srgbClr val="C8871B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32320" y="200253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Changes to the business model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32320" y="240487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blast radius — this is the stable core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38328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EEF2FB"/>
          </a:solidFill>
          <a:ln w="12700">
            <a:solidFill>
              <a:srgbClr val="DDE4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767328"/>
            <a:ext cx="384048" cy="384048"/>
          </a:xfrm>
          <a:prstGeom prst="ellipse">
            <a:avLst/>
          </a:prstGeom>
          <a:solidFill>
            <a:srgbClr val="C8871B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767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08760" y="360273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Granting data access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08760" y="400507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the information barrier lives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338328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EEF2FB"/>
          </a:solidFill>
          <a:ln w="12700">
            <a:solidFill>
              <a:srgbClr val="DDE4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3767328"/>
            <a:ext cx="384048" cy="384048"/>
          </a:xfrm>
          <a:prstGeom prst="ellipse">
            <a:avLst/>
          </a:prstGeom>
          <a:solidFill>
            <a:srgbClr val="C8871B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3767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32320" y="360273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Command of novel incidents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32320" y="400507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 and operational-resilience obligations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5029200"/>
            <a:ext cx="10908792" cy="1143000"/>
          </a:xfrm>
          <a:prstGeom prst="roundRect">
            <a:avLst>
              <a:gd name="adj" fmla="val 64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5193792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is earned, not assumed.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60120" y="552297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approval type may be automated only after ~200 decisions at 95%+ agreement with human reviewers, with random audit sampling and automatic reversion if quality drifts. "Who approved this?" always has an answer.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 from leadership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decisions that are not engineering calls — and are blocking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08792" cy="1207008"/>
          </a:xfrm>
          <a:prstGeom prst="roundRect">
            <a:avLst>
              <a:gd name="adj" fmla="val 6061"/>
            </a:avLst>
          </a:prstGeom>
          <a:solidFill>
            <a:srgbClr val="EEF2FB"/>
          </a:solidFill>
          <a:ln w="12700">
            <a:solidFill>
              <a:srgbClr val="DDE4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21031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1883664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May the three organisations share one identity spine?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2267712"/>
            <a:ext cx="6492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instrument, one counterparty definition — while their data stays separate.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0" y="190195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8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Risk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0" y="2212848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 permitted the design still works, but is materially worse. We need to know now, not in month six.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108960"/>
            <a:ext cx="10908792" cy="1207008"/>
          </a:xfrm>
          <a:prstGeom prst="roundRect">
            <a:avLst>
              <a:gd name="adj" fmla="val 6061"/>
            </a:avLst>
          </a:prstGeom>
          <a:solidFill>
            <a:srgbClr val="EEF2FB"/>
          </a:solidFill>
          <a:ln w="12700">
            <a:solidFill>
              <a:srgbClr val="DDE4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2688" y="34747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932688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00200" y="3255264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 the governed AI model endpoint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00200" y="3639312"/>
            <a:ext cx="6492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Logged, no data leaving the approved boundary.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772400" y="327355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8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governance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772400" y="3584448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completion of Phase 0.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4480560"/>
            <a:ext cx="10908792" cy="1207008"/>
          </a:xfrm>
          <a:prstGeom prst="roundRect">
            <a:avLst>
              <a:gd name="adj" fmla="val 6061"/>
            </a:avLst>
          </a:prstGeom>
          <a:solidFill>
            <a:srgbClr val="EEF2FB"/>
          </a:solidFill>
          <a:ln w="12700">
            <a:solidFill>
              <a:srgbClr val="DDE4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2688" y="48463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932688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00200" y="4626864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 business stewards exist in each organisation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00200" y="5010912"/>
            <a:ext cx="6492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hours a month to confirm what their data means.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772400" y="464515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8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leadership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772400" y="4956048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role that cannot be automated. Without it the approach stalls.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59436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further confirmations needed: whether a corporate orchestration platform is mandated, and whether raw data may be retained indefinitely as the replay log.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go/no-go at month four, on evidence rather than projections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3200400"/>
          </a:xfrm>
          <a:prstGeom prst="roundRect">
            <a:avLst>
              <a:gd name="adj" fmla="val 2286"/>
            </a:avLst>
          </a:prstGeom>
          <a:solidFill>
            <a:srgbClr val="EEF2FB"/>
          </a:solidFill>
          <a:ln w="12700">
            <a:solidFill>
              <a:srgbClr val="DDE4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9659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566160" y="202996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weeks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2395728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8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 at all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2834640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Catalogs, permissions, templates, deployment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 with a hand-written example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foundation fails we learn it cheaply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349240" cy="3200400"/>
          </a:xfrm>
          <a:prstGeom prst="roundRect">
            <a:avLst>
              <a:gd name="adj" fmla="val 228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9659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89720" y="202996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weeks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2395728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pilot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0" y="2834640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domain, 3–5 real feeds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output verified by a human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Exit: a feed onboarded in under 5 working days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5166360"/>
            <a:ext cx="10908792" cy="1097280"/>
          </a:xfrm>
          <a:prstGeom prst="roundRect">
            <a:avLst>
              <a:gd name="adj" fmla="val 6667"/>
            </a:avLst>
          </a:prstGeom>
          <a:solidFill>
            <a:srgbClr val="EEF2FB"/>
          </a:solidFill>
          <a:ln w="12700">
            <a:solidFill>
              <a:srgbClr val="DDE4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5440680"/>
            <a:ext cx="548640" cy="548640"/>
          </a:xfrm>
          <a:prstGeom prst="ellipse">
            <a:avLst/>
          </a:prstGeom>
          <a:solidFill>
            <a:srgbClr val="C8871B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91640" y="550468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 / no-go at roughly month four, with real evidence, for an outlay of four to five people.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023360"/>
            <a:ext cx="4023360" cy="4023360"/>
          </a:xfrm>
          <a:prstGeom prst="ellipse">
            <a:avLst/>
          </a:prstGeom>
          <a:solidFill>
            <a:srgbClr val="2733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 requested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457200" cy="457200"/>
          </a:xfrm>
          <a:prstGeom prst="ellipse">
            <a:avLst/>
          </a:prstGeom>
          <a:solidFill>
            <a:srgbClr val="C8871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71600" y="2395728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identity spine across the three organisations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80960" y="243230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Risk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246120"/>
            <a:ext cx="457200" cy="457200"/>
          </a:xfrm>
          <a:prstGeom prst="ellipse">
            <a:avLst/>
          </a:prstGeom>
          <a:solidFill>
            <a:srgbClr val="C8871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71600" y="3264408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governed AI model endpoint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80960" y="330098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governance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114800"/>
            <a:ext cx="457200" cy="457200"/>
          </a:xfrm>
          <a:prstGeom prst="ellipse">
            <a:avLst/>
          </a:prstGeom>
          <a:solidFill>
            <a:srgbClr val="C8871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371600" y="4133088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business stewards in each organisation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80960" y="416966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leadership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5349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approve Phase 0 — six weeks, no AI, proving the foundation.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Data Warehouse — Executive Summary</dc:title>
  <dc:subject>PptxGenJS Presentation</dc:subject>
  <dc:creator>EDW Design</dc:creator>
  <cp:lastModifiedBy>EDW Design</cp:lastModifiedBy>
  <cp:revision>1</cp:revision>
  <dcterms:created xsi:type="dcterms:W3CDTF">2026-08-10T09:31:25Z</dcterms:created>
  <dcterms:modified xsi:type="dcterms:W3CDTF">2026-08-10T09:31:25Z</dcterms:modified>
</cp:coreProperties>
</file>